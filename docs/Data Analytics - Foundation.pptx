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ه" id="{8771E232-C7CE-49EA-ABB0-852161BAACAD}">
          <p14:sldIdLst>
            <p14:sldId id="256"/>
            <p14:sldId id="257"/>
          </p14:sldIdLst>
        </p14:section>
        <p14:section name="تحلیل داده چیست" id="{8C9DB2BB-3BA5-44E5-A9D9-7F57A50A5E1A}">
          <p14:sldIdLst>
            <p14:sldId id="258"/>
            <p14:sldId id="259"/>
            <p14:sldId id="260"/>
          </p14:sldIdLst>
        </p14:section>
        <p14:section name="انواع تحلیل داده" id="{20690F7C-1B74-4616-AE7E-0F0E4ED395B8}">
          <p14:sldIdLst>
            <p14:sldId id="261"/>
            <p14:sldId id="262"/>
            <p14:sldId id="263"/>
            <p14:sldId id="264"/>
            <p14:sldId id="265"/>
          </p14:sldIdLst>
        </p14:section>
        <p14:section name="مفاهیم کلیدی برای تحلیلگر داده" id="{FAFB857E-725F-4211-ADA9-24C3A567DC50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جمع‌بندی" id="{FF476C13-2BEA-45A2-8B34-66AB5DBEA846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68536-ACC1-41F5-8672-CD3B3F6A8AF2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E3190-FA28-4C3C-84AA-D7C4857F6F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213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BEF7-9EBE-DDE2-CF7C-BA1EA138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1C908-8442-0BF1-3119-CEC7A0233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4E5D3-9271-3F2C-8571-A549BC4D8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5D9A5-269D-5B6B-0DBF-CA5272622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27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292E-97DD-596F-147E-405E47DD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5E2D1-5334-9456-5B79-4CE1320E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EDD45-F002-C253-AC91-4FAB9506C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152C5-82C9-3C13-EB89-B6D909B06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7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BA25-88EF-954C-4689-9414F1BB3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7186B-D1DD-96FE-285B-B8E49855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BE10F-8772-901A-C28C-70C2FBA9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7AC7-2654-37CF-DE97-A86A59B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2CE7-C598-EC0A-BC89-59A397AE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4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1B42-2C6F-9E63-D794-0D93DAEE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6297-3FFB-3AB6-0AC0-F00BFB62F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3B76-1CFA-396E-7434-87967667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6B5E3-F9DA-DC5C-87D6-E1FAB50D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747B4-755E-8C29-B670-F113E6B7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سلاید فارس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E966-AF4A-13BC-FC6D-933ACA4F1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r" rtl="1">
              <a:defRPr sz="4000">
                <a:cs typeface="B Zar" panose="00000400000000000000" pitchFamily="2" charset="-78"/>
              </a:defRPr>
            </a:lvl1pPr>
          </a:lstStyle>
          <a:p>
            <a:r>
              <a:rPr lang="fa-IR" dirty="0"/>
              <a:t>عنوان اسلاید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21914-8428-1C97-66A0-E0A095B1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112C8-9B71-DEE0-1417-53A4D33B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A4BF-A65C-5CC5-F3E1-0B9C7B0E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3740E0-F614-F681-B623-EAEA1DD88C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>
            <a:lvl1pPr algn="r" rtl="1">
              <a:buNone/>
              <a:defRPr sz="2400">
                <a:cs typeface="B Nazanin" panose="00000400000000000000" pitchFamily="2" charset="-78"/>
              </a:defRPr>
            </a:lvl1pPr>
          </a:lstStyle>
          <a:p>
            <a:pPr lvl="0"/>
            <a:r>
              <a:rPr lang="fa-IR" dirty="0"/>
              <a:t> متن اسلاید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7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E4D6-60AB-B036-DFAF-8CC5EB2A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A6F83-679F-B2FA-6CAA-64C6AA9B8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2D72-9ADD-EC95-FC96-76FD87FA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045FE-DC6B-84C0-81DE-C36F5AEF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14852-8E85-9167-9948-0064DD2E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5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32D1-9511-3D34-7628-6D8A8EBA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C6668-0183-550B-1961-8B745760C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60090-21C4-A9CC-11A8-F4DDC3FCF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9FAC2-7D50-D874-CA51-A616BC09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B2EA6-839D-00CF-456B-025C1AA7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5913D-3D2E-64F2-C5DC-16C3E021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025D-D345-7E79-0D6D-1A94B511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B253-109E-FF31-FC2B-DEB66ABC0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982DE-958E-64B9-C0E8-E50CA784B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1E76D-81BC-2211-6191-C604AF266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EB4A3-98F0-678B-D63C-DB112EB93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20799-36E6-2B8C-6166-9BEEA28C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BCA1D-3961-2E78-91F4-227F3B47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6E7C2-BBF6-307D-3E7A-C00DD9E4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9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C07E-D55E-E7A0-E76C-D77DBFB4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FD6D6-BEF0-A5F3-20F2-00669348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4742F-C90B-2BBE-8B38-F23A1E75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10098-BEE2-5320-9A17-ED7E0162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8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862A8-E739-2D6F-9BFB-C82E5577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EEF41-D879-6294-70B4-9FAD65BF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50737-DE78-149A-7B3C-86009E16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2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2868-151B-E99D-CEF3-3E3026C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6A61-5722-CCA0-4E02-64A439EC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598B7-CB90-6CA3-75AE-6A319938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DDDE2-9BB7-5078-74A7-12875475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C70B5-33FD-6B59-D75A-E9122A72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D2DEB-E090-3521-A809-AF644AA0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65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ED5B-E25D-A57D-F087-FDD3C71D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5172-B1FE-1FED-48A6-91B1F90FE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18075-3AE5-A7A9-374A-ADED0746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59F3F-0DF7-89B6-0368-B0ACD9B9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DEEC9-D14C-F310-36AE-033073FA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007B6-53A5-3361-D55D-18B7E8A9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27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A7FE-C0F7-76BD-A620-70C6056B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BB454-DD06-6ED1-7FFE-6C373AFC1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BADA-6DC8-DF7C-0613-C0F30DD9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7A7B-DBED-40C7-053D-C294436B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BB38-4C8F-7C22-D80A-675E6BFC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00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292C8-80E6-1637-0D50-B93AED34E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C18AC-5B2F-C392-4065-66FF7FA24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1415-F365-FAD2-B4AC-7C9E3A85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D26BB-FFD0-8C94-82DE-0E380E72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76484-5361-44A5-D2D5-135A9DB7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4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575BF-3246-AFEA-1A6A-D4786163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BAC19-B495-3016-83ED-F9B19826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C909E-D1D1-CCC1-9C5F-F3289EF26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3E58D-B5B2-3171-65A6-392B641F8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3E09F-A32A-8D92-5065-189357F45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75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oadmap.sh/data-analys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A1C6-3306-7E81-7A74-FA894E2EE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rtl="1"/>
            <a:r>
              <a:rPr lang="fa-IR" noProof="1"/>
              <a:t>ساختارهای پایه تحلیل داده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EED20-571F-1E63-815C-43B65045E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fa-IR" noProof="1"/>
              <a:t>برپایه مسیر اموزشی سایت: </a:t>
            </a:r>
            <a:r>
              <a:rPr lang="fa-IR" noProof="1">
                <a:hlinkClick r:id="rId2"/>
              </a:rPr>
              <a:t>Roadmap.sh</a:t>
            </a:r>
            <a:endParaRPr lang="fa-IR" noProof="1"/>
          </a:p>
        </p:txBody>
      </p:sp>
    </p:spTree>
    <p:extLst>
      <p:ext uri="{BB962C8B-B14F-4D97-AF65-F5344CB8AC3E}">
        <p14:creationId xmlns:p14="http://schemas.microsoft.com/office/powerpoint/2010/main" val="307267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F4AB-5865-7C5A-FEAE-B3D5D599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فهرست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A45E-6B61-0A24-03B8-EE8C7D2F6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تحلیل داده چیست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انواع تحلیل داده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مفاهیم کلیدی برای تحلیلگر داده</a:t>
            </a:r>
          </a:p>
        </p:txBody>
      </p:sp>
    </p:spTree>
    <p:extLst>
      <p:ext uri="{BB962C8B-B14F-4D97-AF65-F5344CB8AC3E}">
        <p14:creationId xmlns:p14="http://schemas.microsoft.com/office/powerpoint/2010/main" val="164172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4A9C-905B-4581-292C-45D3D33D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9671-3A28-F435-A892-9C055559F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تحلیل داده (</a:t>
            </a:r>
            <a:r>
              <a:rPr lang="fa-IR" sz="2200" noProof="1"/>
              <a:t>Data Analytics</a:t>
            </a:r>
            <a:r>
              <a:rPr lang="fa-IR" sz="2400" noProof="1"/>
              <a:t>) یکی از ارکان اصلی حرفه‌ی تحلیلگر داده به شمار می‌رود.</a:t>
            </a:r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به بیان دقیق، تحلیل داده فرایندی است که در آن داده‌های خام و بدون ساختار، از طریق روش‌های علمی و فنی به بینش‌های معنادار و قابل اتکا تبدیل می‌شوند تا فرایند تصمیم‌گیری در سازمان‌ها را هدایت کنند.</a:t>
            </a:r>
          </a:p>
          <a:p>
            <a:pPr marL="0" indent="0" algn="justLow">
              <a:lnSpc>
                <a:spcPct val="100000"/>
              </a:lnSpc>
            </a:pPr>
            <a:endParaRPr lang="fa-IR" sz="2400" noProof="1"/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این حوزه طیف گسترده‌ای از تکنیک‌ها را در بر می‌گیرد:</a:t>
            </a:r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از مراحل مقدماتی نظیر جمع‌آوری، پاک‌سازی و یکپارچه‌سازی داده‌ها، تا روش‌های پیشرفته‌ی آمار، مدل‌سازی پیش‌بینی‌کننده و الگوریتم‌های یادگیری ماشین.</a:t>
            </a:r>
          </a:p>
        </p:txBody>
      </p:sp>
    </p:spTree>
    <p:extLst>
      <p:ext uri="{BB962C8B-B14F-4D97-AF65-F5344CB8AC3E}">
        <p14:creationId xmlns:p14="http://schemas.microsoft.com/office/powerpoint/2010/main" val="154357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B854D-8C1D-EBA8-9E76-7172B573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4693-38EB-F283-793E-5AEAE7A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295FE-136C-0DEC-5F8D-A087D8646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noProof="1"/>
              <a:t>تحلیلگر داده موظف است داده‌های پیچیده‌ی دیجیتال را درک کرده و تفسیر نماید.</a:t>
            </a:r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داده‌هایی نظیر: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آمار بازدید و رفتار کاربران در وب‌سایت‌ها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ارقام فروش و عملکرد مالی سازمان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الگوهای تعامل مشتریان در شبکه‌های اجتماعی و کانال‌های دیجیتال</a:t>
            </a:r>
          </a:p>
        </p:txBody>
      </p:sp>
    </p:spTree>
    <p:extLst>
      <p:ext uri="{BB962C8B-B14F-4D97-AF65-F5344CB8AC3E}">
        <p14:creationId xmlns:p14="http://schemas.microsoft.com/office/powerpoint/2010/main" val="421196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B648-7A1F-60DE-7BE1-EFB834A9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1A9F-2835-27DC-9777-2459C7D1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FB09-33CC-CBE1-C4A0-2AEAFD322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noProof="1"/>
              <a:t>نتیجه‌ی این تفسیر عمیق، برخورداری سازمان از سه توانایی کلیدی است: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شناسایی به موقع روندها (</a:t>
            </a:r>
            <a:r>
              <a:rPr lang="fa-IR" sz="2200" noProof="1"/>
              <a:t>Trend Detection</a:t>
            </a:r>
            <a:r>
              <a:rPr lang="fa-IR" noProof="1"/>
              <a:t>)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پیش‌بینی دقیق‌تر پیامدهای آتی (</a:t>
            </a:r>
            <a:r>
              <a:rPr lang="fa-IR" sz="2200" noProof="1"/>
              <a:t>Predictive Insight</a:t>
            </a:r>
            <a:r>
              <a:rPr lang="fa-IR" noProof="1"/>
              <a:t>)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تدوین استراتژی‌های داده‌محور و مبتنی بر شواهد (</a:t>
            </a:r>
            <a:r>
              <a:rPr lang="fa-IR" sz="2200" noProof="1"/>
              <a:t>Evidence-based Strategy</a:t>
            </a:r>
            <a:r>
              <a:rPr lang="fa-IR" noProof="1"/>
              <a:t>)</a:t>
            </a:r>
          </a:p>
          <a:p>
            <a:pPr marL="0" indent="0" algn="justLow">
              <a:lnSpc>
                <a:spcPct val="100000"/>
              </a:lnSpc>
            </a:pPr>
            <a:endParaRPr lang="fa-IR" noProof="1"/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به عبارت دیگر، تحلیلگر داده پلی است میان حجم عظیم داده‌های خام و تصمیم‌گیری راهبردی سطح بالا.</a:t>
            </a:r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نقشی که در عصر حاضر به یکی از عوامل تعیین‌کننده‌ی مزیت رقابتی سازمان‌ها تبدیل شده است.</a:t>
            </a:r>
          </a:p>
        </p:txBody>
      </p:sp>
    </p:spTree>
    <p:extLst>
      <p:ext uri="{BB962C8B-B14F-4D97-AF65-F5344CB8AC3E}">
        <p14:creationId xmlns:p14="http://schemas.microsoft.com/office/powerpoint/2010/main" val="54261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EC1C-DAD0-166C-35F2-A44F7CB1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انواع تحلیل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81224-D248-8073-0157-D35F99250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noProof="1"/>
              <a:t>چارچوب اصلی تصمیم‌گیری داده‌محور در سازمان‌های مدرن</a:t>
            </a:r>
          </a:p>
          <a:p>
            <a:endParaRPr lang="fa-IR" noProof="1"/>
          </a:p>
          <a:p>
            <a:r>
              <a:rPr lang="fa-IR" noProof="1"/>
              <a:t>تحلیل داده با هدف کشف، تفسیر و تبدیل داده به اطلاعات ارزشمند، چهار دیدگاه اصلی را در بر می‌گیرد: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توصیفی (</a:t>
            </a:r>
            <a:r>
              <a:rPr lang="fa-IR" sz="2200" noProof="1"/>
              <a:t>Descriptive</a:t>
            </a:r>
            <a:r>
              <a:rPr lang="fa-IR" noProof="1"/>
              <a:t>)، چه اتفاقی افتاده؟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تشخیصی (</a:t>
            </a:r>
            <a:r>
              <a:rPr lang="fa-IR" sz="2200" noProof="1"/>
              <a:t>Diagnostic</a:t>
            </a:r>
            <a:r>
              <a:rPr lang="fa-IR" noProof="1"/>
              <a:t>)،چرا اتفاق افتاده؟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پیش‌بینی (</a:t>
            </a:r>
            <a:r>
              <a:rPr lang="fa-IR" sz="2200" noProof="1"/>
              <a:t>Predictive</a:t>
            </a:r>
            <a:r>
              <a:rPr lang="fa-IR" noProof="1"/>
              <a:t>)، چه اتفاقی خواهد افتاد؟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تجویزی (</a:t>
            </a:r>
            <a:r>
              <a:rPr lang="fa-IR" sz="2200" noProof="1"/>
              <a:t>Prescriptive</a:t>
            </a:r>
            <a:r>
              <a:rPr lang="fa-IR" noProof="1"/>
              <a:t>)، چگونه آن را محقق کنیم؟</a:t>
            </a:r>
          </a:p>
          <a:p>
            <a:endParaRPr lang="fa-IR" noProof="1"/>
          </a:p>
          <a:p>
            <a:r>
              <a:rPr lang="fa-IR" noProof="1"/>
              <a:t>تحلیلگر داده با تسلط بر این چهار نوع، قادر است به پرسش‌های راهبردی سازمان در سطوح مختلف پاسخ دهد.</a:t>
            </a:r>
          </a:p>
        </p:txBody>
      </p:sp>
    </p:spTree>
    <p:extLst>
      <p:ext uri="{BB962C8B-B14F-4D97-AF65-F5344CB8AC3E}">
        <p14:creationId xmlns:p14="http://schemas.microsoft.com/office/powerpoint/2010/main" val="274280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2973-3BF5-3DE3-BFCE-F5B68911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8972-777B-5005-A71E-682B01E3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توصیفی (</a:t>
            </a:r>
            <a:r>
              <a:rPr lang="fa-IR" sz="3800" noProof="1"/>
              <a:t>Descriptive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76A83-4D53-F7E0-EA3F-9418FA674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پایه و اساس هوش تجاری</a:t>
            </a:r>
          </a:p>
          <a:p>
            <a:pPr>
              <a:buNone/>
            </a:pPr>
            <a:endParaRPr lang="fa-IR" noProof="1"/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پاسخ به پرسش «چه اتفاقی در گذشته رخ داده است؟».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 کار: پردازش و خلاصه‌سازی داده‌های تاریخی.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ابزارهای رایج: گزارش‌گیری، داشبورد، شاخص‌های کلیدی عملکرد (</a:t>
            </a:r>
            <a:r>
              <a:rPr lang="fa-IR" sz="2200" noProof="1"/>
              <a:t>KPI</a:t>
            </a:r>
            <a:r>
              <a:rPr lang="fa-IR" noProof="1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خروجی اصلی: شناسایی الگوها، روندها، نقاط قوت و ضعف عملیاتی.</a:t>
            </a:r>
          </a:p>
          <a:p>
            <a:pPr>
              <a:buFont typeface="Arial" panose="020B0604020202020204" pitchFamily="34" charset="0"/>
              <a:buChar char="•"/>
            </a:pPr>
            <a:endParaRPr lang="fa-IR" noProof="1"/>
          </a:p>
          <a:p>
            <a:pPr marL="0" indent="0"/>
            <a:r>
              <a:rPr lang="fa-IR" noProof="1"/>
              <a:t>نقش تحلیلگر: ارائه تصویر دقیق و شفاف از وضعیت موجود سازمان.</a:t>
            </a:r>
          </a:p>
        </p:txBody>
      </p:sp>
    </p:spTree>
    <p:extLst>
      <p:ext uri="{BB962C8B-B14F-4D97-AF65-F5344CB8AC3E}">
        <p14:creationId xmlns:p14="http://schemas.microsoft.com/office/powerpoint/2010/main" val="361472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FCBC-0851-8BDD-F9DA-00601B87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E4C2-31C8-F899-9687-4EFDF1AE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تشخیصی (</a:t>
            </a:r>
            <a:r>
              <a:rPr lang="fa-IR" sz="3800" noProof="1"/>
              <a:t>Diagnostic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BFB3C-8528-E08B-18E3-2039A249F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درک علل ریشه‌ای پدیده‌ها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پاسخ به پرسش «چرا این اتفاق افتاد؟».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تکنیک‌های کلیدی: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sz="2200" noProof="1"/>
              <a:t>Drill-down</a:t>
            </a:r>
            <a:r>
              <a:rPr lang="fa-IR" noProof="1"/>
              <a:t> و </a:t>
            </a:r>
            <a:r>
              <a:rPr lang="fa-IR" sz="2200" noProof="1"/>
              <a:t>Data Mining</a:t>
            </a:r>
            <a:r>
              <a:rPr lang="fa-IR" noProof="1"/>
              <a:t>.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تحلیل همبستگی و رگرسیون.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بررسی روابط علت و معلولی.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ارزش افزوده: کشف عوامل پنهان پشت تغییرات مشاهده شده.</a:t>
            </a:r>
          </a:p>
          <a:p>
            <a:pPr>
              <a:buNone/>
            </a:pPr>
            <a:endParaRPr lang="fa-IR" noProof="1"/>
          </a:p>
          <a:p>
            <a:pPr>
              <a:buNone/>
            </a:pPr>
            <a:r>
              <a:rPr lang="fa-IR" noProof="1"/>
              <a:t>مهارت تشخیصی، تحلیلگر داده را از یک گزارش دهنده ساده به یک حل کننده مسائل واقعی تبدیل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5528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993B-86E4-BD3E-D4B9-0D477741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7643-616C-CD04-8ED8-9BF0228E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پیش‌بینی (</a:t>
            </a:r>
            <a:r>
              <a:rPr lang="fa-IR" sz="3800" noProof="1"/>
              <a:t>Predictive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45988-3CF9-D37A-FFD5-1503D8337B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نگاه به آینده با استفاده از داده‌های گذشته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پیش‌بینی احتمال وقوع رویدادهای آتی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روش‌ها: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مدل‌های آماری و اقتصادسنجی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یادگیری ماشین و هوش مصنوعی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سری‌های زمانی و شبکه‌های عصبی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کاربردهای اصلی: مدیریت ریسک، پیش‌بینی تقاضا، تشخیص تقلب، نگهداری پیش‌بینانه.</a:t>
            </a:r>
          </a:p>
          <a:p>
            <a:pPr>
              <a:buNone/>
            </a:pPr>
            <a:endParaRPr lang="fa-IR" noProof="1"/>
          </a:p>
          <a:p>
            <a:pPr>
              <a:buNone/>
            </a:pPr>
            <a:r>
              <a:rPr lang="fa-IR" noProof="1"/>
              <a:t>سازمان‌های پیشرو با این نوع تحلیل از حالت واکنشی به حالت پیش‌فعال گذر می‌کنند.</a:t>
            </a:r>
          </a:p>
        </p:txBody>
      </p:sp>
    </p:spTree>
    <p:extLst>
      <p:ext uri="{BB962C8B-B14F-4D97-AF65-F5344CB8AC3E}">
        <p14:creationId xmlns:p14="http://schemas.microsoft.com/office/powerpoint/2010/main" val="393510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DD80-DC9D-921A-AEC1-33F77081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7EB0-C729-F4E7-594D-0422648A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</a:t>
            </a:r>
            <a:r>
              <a:rPr lang="fa-IR" noProof="1">
                <a:effectLst/>
              </a:rPr>
              <a:t>تجویزی (</a:t>
            </a:r>
            <a:r>
              <a:rPr lang="fa-IR" sz="3800" noProof="1">
                <a:effectLst/>
              </a:rPr>
              <a:t>Prescriptive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8238-72BB-7A16-FB7B-8A66BCBF8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a-IR" noProof="1">
                <a:effectLst/>
              </a:rPr>
              <a:t>بالاترین سطح بلوغ تحلیلی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پیشنهاد بهترین اقدام ممکن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ترکیب همزمان: پیش‌بینی + قوانین کسب‌وکار + بهینه‌سازی ریاضی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ابزارهای پیشرفته: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الگوریتم‌های بهینه‌سازی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شبیه‌سازی مونت‌کارلو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یادگیری تقویتی و سیستم‌های تصمیم خودکار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خروجی نهایی: توصیه‌های عملیاتی دقیق و قابل اجرا.</a:t>
            </a:r>
          </a:p>
          <a:p>
            <a:pPr marL="0" indent="0"/>
            <a:endParaRPr lang="fa-IR" noProof="1"/>
          </a:p>
          <a:p>
            <a:pPr>
              <a:buNone/>
            </a:pPr>
            <a:r>
              <a:rPr lang="fa-IR" noProof="1">
                <a:effectLst/>
              </a:rPr>
              <a:t>تحلیلگر داده در این سطح، نقش مشاور راهبردی و طراح تصمیمات هوشمند را ایفا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376928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3544-8559-DB1B-DB28-D93BC81D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مفاهیم کلیدی برای تحلیلگر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F0951-BDE9-6FAA-9CB3-B755E24B9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>
                <a:effectLst/>
              </a:rPr>
              <a:t>یک تحلیلگر داده حرفه‌ای باید بر شش حوزه‌ی بنیادین تسلط کامل داشته باشد: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جمع‌آوری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پاک‌سازی و آماده‌سازی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اکتشاف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تجسم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تحلیل آماری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یادگیری ماشین</a:t>
            </a:r>
          </a:p>
          <a:p>
            <a:pPr marL="0" indent="0"/>
            <a:r>
              <a:rPr lang="fa-IR" noProof="1">
                <a:effectLst/>
              </a:rPr>
              <a:t>این مفاهیم، چرخه‌ی عمر کامل تحلیل داده (</a:t>
            </a:r>
            <a:r>
              <a:rPr lang="fa-IR" sz="2200" noProof="1">
                <a:effectLst/>
              </a:rPr>
              <a:t>Data Analysis Life Cycle</a:t>
            </a:r>
            <a:r>
              <a:rPr lang="fa-IR" noProof="1">
                <a:effectLst/>
              </a:rPr>
              <a:t>) را تشکیل می‌دهند و فقدان هر یک، اعتبار کل فرایند را به خطر می‌اندازد.</a:t>
            </a:r>
          </a:p>
          <a:p>
            <a:endParaRPr lang="fa-IR" noProof="1"/>
          </a:p>
        </p:txBody>
      </p:sp>
    </p:spTree>
    <p:extLst>
      <p:ext uri="{BB962C8B-B14F-4D97-AF65-F5344CB8AC3E}">
        <p14:creationId xmlns:p14="http://schemas.microsoft.com/office/powerpoint/2010/main" val="22356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5006-3B77-69C1-B8C9-0BA34030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58F3-8BA4-8141-0856-B87E2A04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جمع‌آوری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B6ED8-9C50-E284-3F93-A9CE0220F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a-IR" noProof="1">
                <a:effectLst/>
              </a:rPr>
              <a:t>جمع‌آوری داده - اولین و حساس‌ترین مرحله، کیفیت تحلیل = (کیفیت داده ورودی) 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تعریف: گردآوری نظام‌مند اطلاعات از متغیرهای هدف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روش‌های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نظرسنجی و پرسشنامه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مشاهده و ثبت خودکار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آزمایش‌های کنترل‌شده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وب‌اسکرپینگ و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اصول کلیدی: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هدفمندی، تکرارپذیری، رعایت اخلاق داده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هم‌راستایی با پرسش‌های تحقیق/کسب‌وکار</a:t>
            </a:r>
          </a:p>
          <a:p>
            <a:pPr>
              <a:buNone/>
            </a:pPr>
            <a:r>
              <a:rPr lang="fa-IR" noProof="1">
                <a:effectLst/>
              </a:rPr>
              <a:t>بدون جمع‌آوری صحیح، تمام مراحل بعدی بر پایه‌ی شنی بنا می‌شوند.</a:t>
            </a:r>
          </a:p>
          <a:p>
            <a:endParaRPr lang="fa-IR" noProof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509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FE07-C48F-DA5B-0295-ED4792A5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CE0A-4107-97B1-863B-7B158A2E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پاک‌سازی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F6D4C-A485-EBFB-63FB-B4A3AA31C9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پاک‌سازی داده - </a:t>
            </a:r>
            <a:r>
              <a:rPr lang="fa-IR" dirty="0" err="1"/>
              <a:t>پرزحمت‌ترین</a:t>
            </a:r>
            <a:r>
              <a:rPr lang="fa-IR" dirty="0"/>
              <a:t> </a:t>
            </a:r>
            <a:r>
              <a:rPr lang="fa-IR" dirty="0" err="1"/>
              <a:t>مرحله‌ی</a:t>
            </a:r>
            <a:r>
              <a:rPr lang="fa-IR" dirty="0"/>
              <a:t> عملی</a:t>
            </a:r>
          </a:p>
          <a:p>
            <a:pPr>
              <a:buNone/>
            </a:pPr>
            <a:r>
              <a:rPr lang="fa-IR" dirty="0"/>
              <a:t>۸۰% زمان تحلیلگران صرف این مرحله می‌شود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وظایف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شناسایی و رفع مقادیر گمشده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حذف یا اصلاح داده‌های پرت و نادرست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 err="1"/>
              <a:t>یکسان‌سازی</a:t>
            </a:r>
            <a:r>
              <a:rPr lang="fa-IR" dirty="0"/>
              <a:t> </a:t>
            </a:r>
            <a:r>
              <a:rPr lang="fa-IR" dirty="0" err="1"/>
              <a:t>فرمت‌ها</a:t>
            </a:r>
            <a:r>
              <a:rPr lang="fa-IR" dirty="0"/>
              <a:t> و رفع ناسازگاری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یکپارچه‌سازی منابع مختلف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هدف نهایی: دستیابی به </a:t>
            </a:r>
            <a:r>
              <a:rPr lang="fa-IR" dirty="0" err="1"/>
              <a:t>داده‌ی</a:t>
            </a:r>
            <a:r>
              <a:rPr lang="fa-IR" dirty="0"/>
              <a:t> دقیق - کامل - یکنواخت - به‌روز.</a:t>
            </a:r>
          </a:p>
          <a:p>
            <a:pPr>
              <a:buNone/>
            </a:pPr>
            <a:r>
              <a:rPr lang="fa-IR" dirty="0" err="1"/>
              <a:t>داده‌ی</a:t>
            </a:r>
            <a:r>
              <a:rPr lang="fa-IR" dirty="0"/>
              <a:t> کثیف باعث نتیجه‌گیری غلط و تصمیم‌گیری </a:t>
            </a:r>
            <a:r>
              <a:rPr lang="fa-IR" dirty="0" err="1"/>
              <a:t>فاجعه‌بار</a:t>
            </a:r>
            <a:r>
              <a:rPr lang="fa-IR" dirty="0"/>
              <a:t>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2762180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621E-9E8F-9F99-86D1-E0614CEB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072E-6FF1-6645-D02A-92391EBA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اکتشاف داده (</a:t>
            </a:r>
            <a:r>
              <a:rPr lang="en-US" sz="3800" noProof="1">
                <a:effectLst/>
              </a:rPr>
              <a:t>Exploratory Data Analysis – EDA</a:t>
            </a:r>
            <a:r>
              <a:rPr lang="fa-IR" noProof="1">
                <a:effectLst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914C5-E51B-1852-259D-7AC069660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a-IR" dirty="0"/>
              <a:t>اکتشاف داده - </a:t>
            </a:r>
            <a:r>
              <a:rPr lang="fa-IR" dirty="0" err="1"/>
              <a:t>مرحله‌ی</a:t>
            </a:r>
            <a:r>
              <a:rPr lang="fa-IR" dirty="0"/>
              <a:t> کشف و درک عمیق</a:t>
            </a:r>
          </a:p>
          <a:p>
            <a:pPr>
              <a:buNone/>
            </a:pPr>
            <a:r>
              <a:rPr lang="fa-IR" dirty="0"/>
              <a:t>«بگذارید داده با شما حرف بزند»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اهداف: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کشف الگوها و روابط پنهان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شناسایی </a:t>
            </a:r>
            <a:r>
              <a:rPr lang="fa-IR" dirty="0" err="1"/>
              <a:t>ناهنجاری‌ها</a:t>
            </a:r>
            <a:r>
              <a:rPr lang="fa-IR" dirty="0"/>
              <a:t> و داده‌های پرت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آزمون فرضیات اولیه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ابزارهای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آمار توصیفی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تجسم سریع (</a:t>
            </a:r>
            <a:r>
              <a:rPr lang="en-US" sz="2200" dirty="0"/>
              <a:t>Histogram, Box-plot, Scatter</a:t>
            </a:r>
            <a:r>
              <a:rPr lang="fa-IR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ماتریس همبستگی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خروجی: تعیین جهت صحیح تحلیل‌های بعدی.</a:t>
            </a:r>
          </a:p>
        </p:txBody>
      </p:sp>
    </p:spTree>
    <p:extLst>
      <p:ext uri="{BB962C8B-B14F-4D97-AF65-F5344CB8AC3E}">
        <p14:creationId xmlns:p14="http://schemas.microsoft.com/office/powerpoint/2010/main" val="263143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29BC-8201-285A-5431-19A9AF0A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785F-FC97-8E4E-CB99-6E8D807F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تجسم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3D418-8424-761C-35CF-6CF0466CEA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تجسم داده – زبان مشترک تحلیلگر و </a:t>
            </a:r>
            <a:r>
              <a:rPr lang="fa-IR" dirty="0" err="1"/>
              <a:t>تصمیم‌گیر</a:t>
            </a:r>
            <a:endParaRPr lang="fa-IR" dirty="0"/>
          </a:p>
          <a:p>
            <a:pPr>
              <a:buNone/>
            </a:pPr>
            <a:r>
              <a:rPr lang="fa-IR" dirty="0"/>
              <a:t>یک تصویر خوب &gt; هزار ردیف جدول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اصول کلیدی: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سادگی، وضوح، صداقت بصری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انتخاب نمودار مناسب با نوع داده و پیام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رعایت اصول ادراک بصری (</a:t>
            </a:r>
            <a:r>
              <a:rPr lang="en-US" sz="2000" dirty="0"/>
              <a:t>Gestalt</a:t>
            </a:r>
            <a:r>
              <a:rPr lang="fa-IR" sz="2200" dirty="0"/>
              <a:t>)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نمودارهای </a:t>
            </a:r>
            <a:r>
              <a:rPr lang="fa-IR" dirty="0" err="1"/>
              <a:t>پرکاربرد</a:t>
            </a:r>
            <a:r>
              <a:rPr lang="fa-IR" dirty="0"/>
              <a:t>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خطی، </a:t>
            </a:r>
            <a:r>
              <a:rPr lang="fa-IR" sz="2200" dirty="0" err="1"/>
              <a:t>میله‌ای</a:t>
            </a:r>
            <a:r>
              <a:rPr lang="fa-IR" sz="2200" dirty="0"/>
              <a:t>، </a:t>
            </a:r>
            <a:r>
              <a:rPr lang="fa-IR" sz="2200" dirty="0" err="1"/>
              <a:t>دایره‌ای</a:t>
            </a:r>
            <a:r>
              <a:rPr lang="fa-IR" sz="2200" dirty="0"/>
              <a:t>، نقشه حرارتی، </a:t>
            </a:r>
            <a:r>
              <a:rPr lang="en-US" sz="2000" dirty="0"/>
              <a:t>Scatter,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نقش استراتژیک: تبدیل </a:t>
            </a:r>
            <a:r>
              <a:rPr lang="fa-IR" dirty="0" err="1"/>
              <a:t>یافته‌های</a:t>
            </a:r>
            <a:r>
              <a:rPr lang="fa-IR" dirty="0"/>
              <a:t> پیچیده به داستان قابل فهم برای مدیران ارشد.</a:t>
            </a:r>
          </a:p>
        </p:txBody>
      </p:sp>
    </p:spTree>
    <p:extLst>
      <p:ext uri="{BB962C8B-B14F-4D97-AF65-F5344CB8AC3E}">
        <p14:creationId xmlns:p14="http://schemas.microsoft.com/office/powerpoint/2010/main" val="3903564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A99E-6544-FC46-8287-1AF05545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504A-1BA5-17B6-7824-2BE245B2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تحلیل آماری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FEB0-130D-5DBA-F13C-94BF0A6F79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تحلیل آماری - ستون فقرات استدلال علمی</a:t>
            </a:r>
          </a:p>
          <a:p>
            <a:pPr>
              <a:buNone/>
            </a:pPr>
            <a:r>
              <a:rPr lang="fa-IR" dirty="0"/>
              <a:t>از توصیف تا استنتاج معتبر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 err="1"/>
              <a:t>حوزه‌های</a:t>
            </a:r>
            <a:r>
              <a:rPr lang="fa-IR" dirty="0"/>
              <a:t>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آمار توصیفی (میانگین، انحراف معیار، توزیع)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آمار </a:t>
            </a:r>
            <a:r>
              <a:rPr lang="fa-IR" sz="2200" dirty="0" err="1"/>
              <a:t>استنباطی</a:t>
            </a:r>
            <a:r>
              <a:rPr lang="fa-IR" sz="2200" dirty="0"/>
              <a:t> (آزمون فرض، فاصله اطمینان، </a:t>
            </a:r>
            <a:r>
              <a:rPr lang="en-US" sz="2000" dirty="0"/>
              <a:t>p-value</a:t>
            </a:r>
            <a:r>
              <a:rPr lang="fa-IR" sz="2200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مدل‌سازی (رگرسیون، </a:t>
            </a:r>
            <a:r>
              <a:rPr lang="en-US" sz="2000" dirty="0"/>
              <a:t>ANOVA</a:t>
            </a:r>
            <a:r>
              <a:rPr lang="en-US" sz="2200" dirty="0"/>
              <a:t>، </a:t>
            </a:r>
            <a:r>
              <a:rPr lang="fa-IR" sz="2200" dirty="0"/>
              <a:t>سری زمانی)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هدف نهایی: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پاسخ به «آیا این رابطه/تفاوت معنادار است؟»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 err="1"/>
              <a:t>کمی‌سازی</a:t>
            </a:r>
            <a:r>
              <a:rPr lang="fa-IR" sz="2200" dirty="0"/>
              <a:t> عدم قطعیت</a:t>
            </a:r>
          </a:p>
          <a:p>
            <a:pPr>
              <a:buNone/>
            </a:pPr>
            <a:r>
              <a:rPr lang="fa-IR" dirty="0"/>
              <a:t>تحلیل آماری صحیح، تحلیلگر را از </a:t>
            </a:r>
            <a:r>
              <a:rPr lang="fa-IR" dirty="0" err="1"/>
              <a:t>حدس‌زنی</a:t>
            </a:r>
            <a:r>
              <a:rPr lang="fa-IR" dirty="0"/>
              <a:t> به نتیجه‌گیری علمی ارتقا می‌دهد.</a:t>
            </a:r>
          </a:p>
        </p:txBody>
      </p:sp>
    </p:spTree>
    <p:extLst>
      <p:ext uri="{BB962C8B-B14F-4D97-AF65-F5344CB8AC3E}">
        <p14:creationId xmlns:p14="http://schemas.microsoft.com/office/powerpoint/2010/main" val="3598270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C680-D43E-B311-6A38-A36F6248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89BC-3CAE-31C1-4B9F-96DA59B5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یادگیری ماشین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18618-C927-1E7F-31FE-40594680D3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یادگیری ماشین - نسل بعدی ابزار تحلیلگر</a:t>
            </a:r>
          </a:p>
          <a:p>
            <a:pPr>
              <a:buNone/>
            </a:pPr>
            <a:r>
              <a:rPr lang="fa-IR" dirty="0"/>
              <a:t>از «چرا» به «چه خواهد شد» و «چه باید کرد»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نقش تحلیلگر در </a:t>
            </a:r>
            <a:r>
              <a:rPr lang="en-US" sz="2200" dirty="0"/>
              <a:t>ML</a:t>
            </a:r>
            <a:r>
              <a:rPr lang="fa-IR" dirty="0"/>
              <a:t>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آماده‌سازی ویژگی‌ها (</a:t>
            </a:r>
            <a:r>
              <a:rPr lang="en-US" sz="2000" dirty="0"/>
              <a:t>Feature Engineering</a:t>
            </a:r>
            <a:r>
              <a:rPr lang="fa-IR" sz="2200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انتخاب و ارزیابی مدل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تفسیر نتایج (</a:t>
            </a:r>
            <a:r>
              <a:rPr lang="en-US" sz="2000" dirty="0"/>
              <a:t>Explainable AI</a:t>
            </a:r>
            <a:r>
              <a:rPr lang="fa-IR" sz="2200" dirty="0"/>
              <a:t>)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الگوریتم‌های کلیدی برای تحلیلگران: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رگرسیون، درخت تصمیم، جنگل تصادفی، </a:t>
            </a:r>
            <a:r>
              <a:rPr lang="fa-IR" sz="2200" dirty="0" err="1"/>
              <a:t>خوشه‌بندی</a:t>
            </a:r>
            <a:r>
              <a:rPr lang="fa-IR" sz="2200" dirty="0"/>
              <a:t>، </a:t>
            </a:r>
            <a:r>
              <a:rPr lang="en-US" sz="2000" dirty="0"/>
              <a:t>SVM</a:t>
            </a:r>
            <a:r>
              <a:rPr lang="en-US" sz="2200" dirty="0"/>
              <a:t>، </a:t>
            </a:r>
            <a:r>
              <a:rPr lang="fa-IR" sz="2200" dirty="0"/>
              <a:t>شبکه عصبی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ارزش افزوده: پیش‌بینی، تشخیص خودکار الگو، </a:t>
            </a:r>
            <a:r>
              <a:rPr lang="fa-IR" dirty="0" err="1"/>
              <a:t>توصیه‌گرها</a:t>
            </a:r>
            <a:endParaRPr lang="fa-IR" dirty="0"/>
          </a:p>
          <a:p>
            <a:pPr>
              <a:buNone/>
            </a:pPr>
            <a:r>
              <a:rPr lang="fa-IR" dirty="0" err="1"/>
              <a:t>تحلیلگری</a:t>
            </a:r>
            <a:r>
              <a:rPr lang="fa-IR" dirty="0"/>
              <a:t> که </a:t>
            </a:r>
            <a:r>
              <a:rPr lang="en-US" sz="2200" dirty="0"/>
              <a:t>ML</a:t>
            </a:r>
            <a:r>
              <a:rPr lang="fa-IR" dirty="0"/>
              <a:t> بداند، از «</a:t>
            </a:r>
            <a:r>
              <a:rPr lang="fa-IR" dirty="0" err="1"/>
              <a:t>تحلیل‌گر</a:t>
            </a:r>
            <a:r>
              <a:rPr lang="fa-IR" dirty="0"/>
              <a:t> گذشته» به «معمار آینده» تبدیل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211060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4165-C47F-63AC-01C8-60F2C2E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جمع‌بندی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B0B3-2452-6CFE-6ADD-AB7F083D71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dirty="0"/>
              <a:t>در این بخش با مفاهیم ابتدایی و اصول تحلیل داده و </a:t>
            </a:r>
            <a:r>
              <a:rPr lang="fa-IR" dirty="0" err="1"/>
              <a:t>نیازمندی‌های</a:t>
            </a:r>
            <a:r>
              <a:rPr lang="fa-IR" dirty="0"/>
              <a:t> یک تحلیلگر داده آشنا شدیم.</a:t>
            </a:r>
          </a:p>
          <a:p>
            <a:r>
              <a:rPr lang="fa-IR" dirty="0"/>
              <a:t>آشنایی و تسلط بر هر بخش لازمه ادامه مسیر تحلیل داده و فرایندهای مربوط به آن می‌باشد.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4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اسلاید فارسی">
      <a:majorFont>
        <a:latin typeface="Aptos Display"/>
        <a:ea typeface=""/>
        <a:cs typeface="B Zar"/>
      </a:majorFont>
      <a:minorFont>
        <a:latin typeface="Aptos"/>
        <a:ea typeface=""/>
        <a:cs typeface="B Nazan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1151</Words>
  <Application>Microsoft Office PowerPoint</Application>
  <PresentationFormat>Widescreen</PresentationFormat>
  <Paragraphs>157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B Nazanin</vt:lpstr>
      <vt:lpstr>B Zar</vt:lpstr>
      <vt:lpstr>Courier New</vt:lpstr>
      <vt:lpstr>Wingdings</vt:lpstr>
      <vt:lpstr>Office Theme</vt:lpstr>
      <vt:lpstr>ساختارهای پایه تحلیل داده</vt:lpstr>
      <vt:lpstr>فهرست</vt:lpstr>
      <vt:lpstr>تحلیل داده چیست</vt:lpstr>
      <vt:lpstr>تحلیل داده چیست</vt:lpstr>
      <vt:lpstr>تحلیل داده چیست</vt:lpstr>
      <vt:lpstr>انواع تحلیل داده</vt:lpstr>
      <vt:lpstr>تحلیل داده توصیفی (Descriptive Analytics)</vt:lpstr>
      <vt:lpstr>تحلیل داده تشخیصی (Diagnostic Analytics)</vt:lpstr>
      <vt:lpstr>تحلیل داده پیش‌بینی (Predictive Analytics)</vt:lpstr>
      <vt:lpstr>تحلیل داده تجویزی (Prescriptive Analytics)</vt:lpstr>
      <vt:lpstr>مفاهیم کلیدی برای تحلیلگر داده</vt:lpstr>
      <vt:lpstr>جمع‌آوری داده</vt:lpstr>
      <vt:lpstr>پاک‌سازی داده</vt:lpstr>
      <vt:lpstr>اکتشاف داده (Exploratory Data Analysis – EDA)</vt:lpstr>
      <vt:lpstr>تجسم داده</vt:lpstr>
      <vt:lpstr>تحلیل آماری</vt:lpstr>
      <vt:lpstr>یادگیری ماشین</vt:lpstr>
      <vt:lpstr>جمع‌بندی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 Mohammad Mahdi Hashemi</dc:creator>
  <cp:lastModifiedBy>Seyed Mohammad Mahdi Hashemi</cp:lastModifiedBy>
  <cp:revision>26</cp:revision>
  <dcterms:created xsi:type="dcterms:W3CDTF">2025-11-19T11:20:09Z</dcterms:created>
  <dcterms:modified xsi:type="dcterms:W3CDTF">2025-11-19T15:09:12Z</dcterms:modified>
</cp:coreProperties>
</file>